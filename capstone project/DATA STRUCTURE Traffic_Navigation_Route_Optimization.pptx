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9"/>
  </p:notesMasterIdLst>
  <p:sldIdLst>
    <p:sldId id="256" r:id="rId2"/>
    <p:sldId id="259" r:id="rId3"/>
    <p:sldId id="260" r:id="rId4"/>
    <p:sldId id="279" r:id="rId5"/>
    <p:sldId id="262" r:id="rId6"/>
    <p:sldId id="263" r:id="rId7"/>
    <p:sldId id="264" r:id="rId8"/>
    <p:sldId id="265" r:id="rId9"/>
    <p:sldId id="278" r:id="rId10"/>
    <p:sldId id="266" r:id="rId11"/>
    <p:sldId id="269" r:id="rId12"/>
    <p:sldId id="270" r:id="rId13"/>
    <p:sldId id="272" r:id="rId14"/>
    <p:sldId id="273" r:id="rId15"/>
    <p:sldId id="274" r:id="rId16"/>
    <p:sldId id="276" r:id="rId17"/>
    <p:sldId id="277" r:id="rId1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F78AA-6FC0-4C6B-87A0-113EEC84AED8}" v="7" dt="2026-08-24T14:56:57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 ." userId="ee49a360c7469f96" providerId="LiveId" clId="{A9DE1DCA-3E54-4B62-BDBE-272027FD95CB}"/>
    <pc:docChg chg="undo custSel addSld delSld modSld">
      <pc:chgData name="Harsha vardhan ." userId="ee49a360c7469f96" providerId="LiveId" clId="{A9DE1DCA-3E54-4B62-BDBE-272027FD95CB}" dt="2026-08-24T14:57:22.588" v="86" actId="1076"/>
      <pc:docMkLst>
        <pc:docMk/>
      </pc:docMkLst>
      <pc:sldChg chg="del">
        <pc:chgData name="Harsha vardhan ." userId="ee49a360c7469f96" providerId="LiveId" clId="{A9DE1DCA-3E54-4B62-BDBE-272027FD95CB}" dt="2026-08-24T14:55:02.292" v="47" actId="47"/>
        <pc:sldMkLst>
          <pc:docMk/>
          <pc:sldMk cId="0" sldId="258"/>
        </pc:sldMkLst>
      </pc:sldChg>
      <pc:sldChg chg="addSp delSp mod">
        <pc:chgData name="Harsha vardhan ." userId="ee49a360c7469f96" providerId="LiveId" clId="{A9DE1DCA-3E54-4B62-BDBE-272027FD95CB}" dt="2026-08-24T14:55:15.172" v="51" actId="22"/>
        <pc:sldMkLst>
          <pc:docMk/>
          <pc:sldMk cId="0" sldId="260"/>
        </pc:sldMkLst>
        <pc:picChg chg="add del">
          <ac:chgData name="Harsha vardhan ." userId="ee49a360c7469f96" providerId="LiveId" clId="{A9DE1DCA-3E54-4B62-BDBE-272027FD95CB}" dt="2026-08-24T14:55:15.172" v="51" actId="22"/>
          <ac:picMkLst>
            <pc:docMk/>
            <pc:sldMk cId="0" sldId="260"/>
            <ac:picMk id="3" creationId="{D280ABD1-7A45-4B2F-A059-D41C754B8CFA}"/>
          </ac:picMkLst>
        </pc:picChg>
      </pc:sldChg>
      <pc:sldChg chg="addSp delSp modSp mod">
        <pc:chgData name="Harsha vardhan ." userId="ee49a360c7469f96" providerId="LiveId" clId="{A9DE1DCA-3E54-4B62-BDBE-272027FD95CB}" dt="2026-08-24T14:52:28.913" v="4" actId="22"/>
        <pc:sldMkLst>
          <pc:docMk/>
          <pc:sldMk cId="0" sldId="266"/>
        </pc:sldMkLst>
        <pc:spChg chg="mod">
          <ac:chgData name="Harsha vardhan ." userId="ee49a360c7469f96" providerId="LiveId" clId="{A9DE1DCA-3E54-4B62-BDBE-272027FD95CB}" dt="2026-08-24T14:52:16.596" v="0" actId="1035"/>
          <ac:spMkLst>
            <pc:docMk/>
            <pc:sldMk cId="0" sldId="266"/>
            <ac:spMk id="4" creationId="{00000000-0000-0000-0000-000000000000}"/>
          </ac:spMkLst>
        </pc:spChg>
        <pc:picChg chg="add del">
          <ac:chgData name="Harsha vardhan ." userId="ee49a360c7469f96" providerId="LiveId" clId="{A9DE1DCA-3E54-4B62-BDBE-272027FD95CB}" dt="2026-08-24T14:52:28.913" v="4" actId="22"/>
          <ac:picMkLst>
            <pc:docMk/>
            <pc:sldMk cId="0" sldId="266"/>
            <ac:picMk id="3" creationId="{0AC9FCAB-F2A6-2B44-0436-3FBC55AB144B}"/>
          </ac:picMkLst>
        </pc:picChg>
      </pc:sldChg>
      <pc:sldChg chg="addSp delSp modSp new mod">
        <pc:chgData name="Harsha vardhan ." userId="ee49a360c7469f96" providerId="LiveId" clId="{A9DE1DCA-3E54-4B62-BDBE-272027FD95CB}" dt="2026-08-24T14:54:48.158" v="44" actId="113"/>
        <pc:sldMkLst>
          <pc:docMk/>
          <pc:sldMk cId="1561567162" sldId="278"/>
        </pc:sldMkLst>
        <pc:spChg chg="add del mod">
          <ac:chgData name="Harsha vardhan ." userId="ee49a360c7469f96" providerId="LiveId" clId="{A9DE1DCA-3E54-4B62-BDBE-272027FD95CB}" dt="2026-08-24T14:53:52.641" v="13"/>
          <ac:spMkLst>
            <pc:docMk/>
            <pc:sldMk cId="1561567162" sldId="278"/>
            <ac:spMk id="8" creationId="{DFA4047B-7DD9-F42A-C5DB-A8D05161C8F6}"/>
          </ac:spMkLst>
        </pc:spChg>
        <pc:spChg chg="add mod">
          <ac:chgData name="Harsha vardhan ." userId="ee49a360c7469f96" providerId="LiveId" clId="{A9DE1DCA-3E54-4B62-BDBE-272027FD95CB}" dt="2026-08-24T14:54:48.158" v="44" actId="113"/>
          <ac:spMkLst>
            <pc:docMk/>
            <pc:sldMk cId="1561567162" sldId="278"/>
            <ac:spMk id="9" creationId="{8CA123C4-D953-6432-0297-62D1C49F386C}"/>
          </ac:spMkLst>
        </pc:spChg>
        <pc:picChg chg="add">
          <ac:chgData name="Harsha vardhan ." userId="ee49a360c7469f96" providerId="LiveId" clId="{A9DE1DCA-3E54-4B62-BDBE-272027FD95CB}" dt="2026-08-24T14:52:25.297" v="2" actId="22"/>
          <ac:picMkLst>
            <pc:docMk/>
            <pc:sldMk cId="1561567162" sldId="278"/>
            <ac:picMk id="3" creationId="{974E320E-D972-31E9-C0AB-6F1690307024}"/>
          </ac:picMkLst>
        </pc:picChg>
        <pc:picChg chg="add">
          <ac:chgData name="Harsha vardhan ." userId="ee49a360c7469f96" providerId="LiveId" clId="{A9DE1DCA-3E54-4B62-BDBE-272027FD95CB}" dt="2026-08-24T14:52:31.049" v="5" actId="22"/>
          <ac:picMkLst>
            <pc:docMk/>
            <pc:sldMk cId="1561567162" sldId="278"/>
            <ac:picMk id="5" creationId="{1F48C8AA-937C-4D7E-EA83-56F2581F269C}"/>
          </ac:picMkLst>
        </pc:picChg>
        <pc:picChg chg="add mod">
          <ac:chgData name="Harsha vardhan ." userId="ee49a360c7469f96" providerId="LiveId" clId="{A9DE1DCA-3E54-4B62-BDBE-272027FD95CB}" dt="2026-08-24T14:53:43.156" v="10" actId="14100"/>
          <ac:picMkLst>
            <pc:docMk/>
            <pc:sldMk cId="1561567162" sldId="278"/>
            <ac:picMk id="7" creationId="{FDF1D72C-9A64-C40B-C26B-ACE0DA39DCF1}"/>
          </ac:picMkLst>
        </pc:picChg>
      </pc:sldChg>
      <pc:sldChg chg="addSp modSp new mod">
        <pc:chgData name="Harsha vardhan ." userId="ee49a360c7469f96" providerId="LiveId" clId="{A9DE1DCA-3E54-4B62-BDBE-272027FD95CB}" dt="2026-08-24T14:57:22.588" v="86" actId="1076"/>
        <pc:sldMkLst>
          <pc:docMk/>
          <pc:sldMk cId="1987990964" sldId="279"/>
        </pc:sldMkLst>
        <pc:spChg chg="add mod">
          <ac:chgData name="Harsha vardhan ." userId="ee49a360c7469f96" providerId="LiveId" clId="{A9DE1DCA-3E54-4B62-BDBE-272027FD95CB}" dt="2026-08-24T14:55:42.645" v="76" actId="113"/>
          <ac:spMkLst>
            <pc:docMk/>
            <pc:sldMk cId="1987990964" sldId="279"/>
            <ac:spMk id="6" creationId="{E6A633CE-F817-41AF-C05D-12E7E00401EB}"/>
          </ac:spMkLst>
        </pc:spChg>
        <pc:spChg chg="add mod">
          <ac:chgData name="Harsha vardhan ." userId="ee49a360c7469f96" providerId="LiveId" clId="{A9DE1DCA-3E54-4B62-BDBE-272027FD95CB}" dt="2026-08-24T14:57:22.588" v="86" actId="1076"/>
          <ac:spMkLst>
            <pc:docMk/>
            <pc:sldMk cId="1987990964" sldId="279"/>
            <ac:spMk id="7" creationId="{CADE0591-C468-F557-EF86-169629CF970F}"/>
          </ac:spMkLst>
        </pc:spChg>
        <pc:picChg chg="add">
          <ac:chgData name="Harsha vardhan ." userId="ee49a360c7469f96" providerId="LiveId" clId="{A9DE1DCA-3E54-4B62-BDBE-272027FD95CB}" dt="2026-08-24T14:55:10.945" v="49" actId="22"/>
          <ac:picMkLst>
            <pc:docMk/>
            <pc:sldMk cId="1987990964" sldId="279"/>
            <ac:picMk id="3" creationId="{A026E0DA-E38D-66A2-C912-404E2E57E5A1}"/>
          </ac:picMkLst>
        </pc:picChg>
        <pc:picChg chg="add">
          <ac:chgData name="Harsha vardhan ." userId="ee49a360c7469f96" providerId="LiveId" clId="{A9DE1DCA-3E54-4B62-BDBE-272027FD95CB}" dt="2026-08-24T14:55:17.146" v="52" actId="22"/>
          <ac:picMkLst>
            <pc:docMk/>
            <pc:sldMk cId="1987990964" sldId="279"/>
            <ac:picMk id="5" creationId="{C915BD5E-2028-136D-8DB6-014B720E36D2}"/>
          </ac:picMkLst>
        </pc:picChg>
      </pc:sldChg>
      <pc:sldChg chg="new del">
        <pc:chgData name="Harsha vardhan ." userId="ee49a360c7469f96" providerId="LiveId" clId="{A9DE1DCA-3E54-4B62-BDBE-272027FD95CB}" dt="2026-08-24T14:54:58.870" v="46" actId="47"/>
        <pc:sldMkLst>
          <pc:docMk/>
          <pc:sldMk cId="2228109050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39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3046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9391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8124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2196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4747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8058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8227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5055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7744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6995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564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793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A16AC-A8D6-4B0E-959B-E62897125FB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A2041-DB01-4FFA-A539-63A5F4F66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30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NAVIGATION AND ROUTE
OPTIMIZATION SYSTEM USING GRAPHS</a:t>
            </a: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606039"/>
            <a:ext cx="8046720" cy="98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GRAPH-BASED SYSTEM FOR DYNAMIC ROUTE OPTIMIZATION USING DIJKSTRA'S / A* SEARCH</a:t>
            </a:r>
          </a:p>
          <a:p>
            <a:pPr marL="0" indent="0" algn="ctr">
              <a:buNone/>
            </a:pP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cs typeface="Times New Roman" pitchFamily="34" charset="-120"/>
              </a:rPr>
              <a:t>CSA0315-DATA STRUCTURE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09489" y="4058530"/>
            <a:ext cx="1709225" cy="724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BY:
</a:t>
            </a: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Dr.T. Rajesh Kumar
</a:t>
            </a:r>
          </a:p>
        </p:txBody>
      </p:sp>
      <p:sp>
        <p:nvSpPr>
          <p:cNvPr id="8" name="Text 6"/>
          <p:cNvSpPr/>
          <p:nvPr/>
        </p:nvSpPr>
        <p:spPr>
          <a:xfrm>
            <a:off x="6323431" y="3875650"/>
            <a:ext cx="2820570" cy="13047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
</a:t>
            </a: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Harshavardhan H(192511171)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Hardhish (192511098)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Praveen Raj A(192511456)</a:t>
            </a:r>
          </a:p>
          <a:p>
            <a:pPr marL="0" indent="0" algn="ctr">
              <a:buNone/>
            </a:pPr>
            <a:endParaRPr lang="en-US" sz="1400" dirty="0">
              <a:solidFill>
                <a:srgbClr val="222222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0" name="Picture 2" descr="SSE-Computer Science and Engineering">
            <a:extLst>
              <a:ext uri="{FF2B5EF4-FFF2-40B4-BE49-F238E27FC236}">
                <a16:creationId xmlns:a16="http://schemas.microsoft.com/office/drawing/2014/main" id="{AAA03AAE-8FDB-1330-C740-D89178E77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760" y="137160"/>
            <a:ext cx="8229600" cy="112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3896" y="5908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1" y="1091126"/>
            <a:ext cx="5753686" cy="350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road networks can be modelled naturally as graphs, with intersections as nodes and roads as directed, weighted edges.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shortest-path calculations are unrealistic, since real travel time depends heavily on time-varying traffic congestion.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graph algorithms such as Dijkstra's and A* Search can compute optimal routes efficiently even as edge weights change.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combines graph construction, live traffic simulation, and pathfinding into a single route optimization system.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is intended to demonstrate how core data-structure concepts (graphs, priority queues) solve a practical navigation problem.</a:t>
            </a:r>
            <a:endParaRPr lang="en-US" sz="1600" dirty="0"/>
          </a:p>
        </p:txBody>
      </p:sp>
      <p:pic>
        <p:nvPicPr>
          <p:cNvPr id="6" name="Picture 5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94D96D43-0ED4-830C-14A8-660811FC7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115079"/>
            <a:ext cx="1023864" cy="921985"/>
          </a:xfrm>
          <a:prstGeom prst="rect">
            <a:avLst/>
          </a:prstGeom>
        </p:spPr>
      </p:pic>
      <p:pic>
        <p:nvPicPr>
          <p:cNvPr id="7" name="Picture 6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A7729EFC-5E79-5064-9D86-52A466CC5B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" y="80104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094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78" y="1002323"/>
            <a:ext cx="5781822" cy="3829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construct a weighted directed graph representing a city layout with at least 50 nodes.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store distance and speed-limit attributes on every edge using a memory-efficient adjacency list.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simulate dynamic traffic congestion by updating edge weights based on time of day.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implement Dijkstra's Algorithm or A* Search to compute the fastest time-based route between two nodes.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handle real-world scenarios such as road closures, modelled as infinite-weight edges.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return the optimal route as an ordered node list with total estimated travel time, computed in under 100ms.</a:t>
            </a:r>
            <a:endParaRPr lang="en-US" sz="1500" dirty="0"/>
          </a:p>
        </p:txBody>
      </p:sp>
      <p:pic>
        <p:nvPicPr>
          <p:cNvPr id="6" name="Picture 5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25D61625-3A12-BD17-0661-FBE204469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" y="80104"/>
            <a:ext cx="1023864" cy="921985"/>
          </a:xfrm>
          <a:prstGeom prst="rect">
            <a:avLst/>
          </a:prstGeom>
        </p:spPr>
      </p:pic>
      <p:pic>
        <p:nvPicPr>
          <p:cNvPr id="7" name="Picture 6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CBBC1782-ACF2-77A6-8B3A-F66B04F8D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80103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A026E0DA-E38D-66A2-C912-404E2E57E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" y="80104"/>
            <a:ext cx="1023864" cy="921985"/>
          </a:xfrm>
          <a:prstGeom prst="rect">
            <a:avLst/>
          </a:prstGeom>
        </p:spPr>
      </p:pic>
      <p:pic>
        <p:nvPicPr>
          <p:cNvPr id="5" name="Picture 4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C915BD5E-2028-136D-8DB6-014B720E3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80103"/>
            <a:ext cx="1023864" cy="921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A633CE-F817-41AF-C05D-12E7E00401EB}"/>
              </a:ext>
            </a:extLst>
          </p:cNvPr>
          <p:cNvSpPr txBox="1"/>
          <p:nvPr/>
        </p:nvSpPr>
        <p:spPr>
          <a:xfrm>
            <a:off x="2416441" y="264096"/>
            <a:ext cx="45839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DE0591-C468-F557-EF86-169629CF970F}"/>
              </a:ext>
            </a:extLst>
          </p:cNvPr>
          <p:cNvSpPr txBox="1"/>
          <p:nvPr/>
        </p:nvSpPr>
        <p:spPr>
          <a:xfrm>
            <a:off x="170018" y="1315511"/>
            <a:ext cx="72823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Route Planning: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shortest-path methods may not provide the fastest route when traffic conditions change dynamically.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Traffic Congestion: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Changing traffic congestion affects road travel time, requiring road weights to be updated continuously.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Road Networks: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urban road networks contain many intersections and directed roads, making efficient route computation challenging.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Closures: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Unexpected road closures can make previously calculated routes unavailable and require immediate re-routing.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Route Optimization: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needs to efficiently calculate and return the optimal route with estimated travel time within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99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91175" y="63305"/>
            <a:ext cx="6534443" cy="921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MAP REPRESENTATION &amp; GRAPH CONSTRUCTION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39151" y="1382151"/>
            <a:ext cx="5127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the city layout as a weighted directed graph.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city intersections as nodes and roads as directed edges with initial weights.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distance and speed-limit attributes on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a graph of at least 50 nodes for realistic scale.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 the map using a memory-efficient adjacency list.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 a coordinate mapping to link each node to a real-world position.</a:t>
            </a:r>
            <a:endParaRPr lang="en-US" sz="1500" dirty="0"/>
          </a:p>
        </p:txBody>
      </p:sp>
      <p:pic>
        <p:nvPicPr>
          <p:cNvPr id="6" name="Picture 5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C3F69007-5325-7CC0-3162-B9C778EA8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115079"/>
            <a:ext cx="1023864" cy="921985"/>
          </a:xfrm>
          <a:prstGeom prst="rect">
            <a:avLst/>
          </a:prstGeom>
        </p:spPr>
      </p:pic>
      <p:pic>
        <p:nvPicPr>
          <p:cNvPr id="7" name="Picture 6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18206DB1-AFE4-25E9-4C86-4415BC3F9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5" y="115079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7957" y="119575"/>
            <a:ext cx="6700535" cy="77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DYNAMIC TRAFFIC SIMULATION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32118" y="1354015"/>
            <a:ext cx="54090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real-time weight updater for graph edges.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 traffic congestion by dynamically adjusting edge weights based on time of day.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travel time using the formula: W = (Distance / Speed) − Traffic Factor.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randomized simulation to generate realistic, varying congestion patterns.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 a “Live” graph where edge weights continuously reflect simulated traffic conditions.</a:t>
            </a:r>
            <a:endParaRPr lang="en-US" sz="1600" dirty="0"/>
          </a:p>
        </p:txBody>
      </p:sp>
      <p:pic>
        <p:nvPicPr>
          <p:cNvPr id="6" name="Picture 5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77FF6FF8-B65F-5ADC-D0A8-251AF5ABB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" y="80104"/>
            <a:ext cx="1023864" cy="921985"/>
          </a:xfrm>
          <a:prstGeom prst="rect">
            <a:avLst/>
          </a:prstGeom>
        </p:spPr>
      </p:pic>
      <p:pic>
        <p:nvPicPr>
          <p:cNvPr id="7" name="Picture 6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5BC03F93-6309-206A-EFB4-57084647F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80103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2788" y="0"/>
            <a:ext cx="67357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ROUTE OPTIMIZATION ENGINE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11015" y="1375117"/>
            <a:ext cx="554970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pathfinding algorithms to compute the fastest route.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Dijkstra's Algorithm or A* Search with heuristics for time-based shortest-path calculation.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the optimal path between any source and destination node in under 100ms.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“Road Closed” scenarios by treating the affected edge as having infinite weight.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an ordered list of nodes representing the fastest route along with total estimated travel time.</a:t>
            </a:r>
            <a:endParaRPr lang="en-US" sz="1600" dirty="0"/>
          </a:p>
        </p:txBody>
      </p:sp>
      <p:pic>
        <p:nvPicPr>
          <p:cNvPr id="6" name="Picture 5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64E7B963-393B-1B61-E865-E28973090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115079"/>
            <a:ext cx="1023864" cy="921985"/>
          </a:xfrm>
          <a:prstGeom prst="rect">
            <a:avLst/>
          </a:prstGeom>
        </p:spPr>
      </p:pic>
      <p:pic>
        <p:nvPicPr>
          <p:cNvPr id="7" name="Picture 6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3C0FC4A8-F1DB-6082-4DCC-564806F0C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" y="115079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786597" y="256032"/>
            <a:ext cx="5542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47710" y="1315328"/>
            <a:ext cx="8814645" cy="3572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Represent the city road network as a weighted directed graph G(V, E) using an adjacency list.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Assign each edge a base weight computed from distance and speed limit.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At runtime, update edge weights using W = (Distance / Speed) − Traffic Factor to reflect live congestion.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Mark closed roads by setting the corresponding edge weight to infinity.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Run Dijkstra's Algorithm (or A* Search with an admissible heuristic) from the source using a min-priority queue.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Relax edges until the destination is reached, then backtrack through predecessors to output the route and travel time.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13E04DE9-62A9-C0EB-50A0-9573D8ABE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" y="80104"/>
            <a:ext cx="1023864" cy="921985"/>
          </a:xfrm>
          <a:prstGeom prst="rect">
            <a:avLst/>
          </a:prstGeom>
        </p:spPr>
      </p:pic>
      <p:pic>
        <p:nvPicPr>
          <p:cNvPr id="7" name="Picture 6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61D96D4A-DD8E-279F-F425-6072B3BEF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80103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974E320E-D972-31E9-C0AB-6F1690307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" y="115079"/>
            <a:ext cx="1023864" cy="921985"/>
          </a:xfrm>
          <a:prstGeom prst="rect">
            <a:avLst/>
          </a:prstGeom>
        </p:spPr>
      </p:pic>
      <p:pic>
        <p:nvPicPr>
          <p:cNvPr id="5" name="Picture 4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1F48C8AA-937C-4D7E-EA83-56F2581F2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115079"/>
            <a:ext cx="1023864" cy="921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1D72C-9A64-C40B-C26B-ACE0DA39D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037064"/>
            <a:ext cx="7715250" cy="38397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A123C4-D953-6432-0297-62D1C49F386C}"/>
              </a:ext>
            </a:extLst>
          </p:cNvPr>
          <p:cNvSpPr txBox="1"/>
          <p:nvPr/>
        </p:nvSpPr>
        <p:spPr>
          <a:xfrm>
            <a:off x="2407920" y="306693"/>
            <a:ext cx="4983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6156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41938" y="93667"/>
            <a:ext cx="65063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FLOW DIAGRAM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017520" y="105156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017520" y="1051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69164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017520" y="1691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City Graph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(Nodes &amp; Weighted Edges)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33172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1752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Live Traffic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 (Simulation)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97180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17520" y="2971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Dijkstra's / A*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Engine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3611880"/>
            <a:ext cx="3108960" cy="731520"/>
          </a:xfrm>
          <a:prstGeom prst="diamond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01752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Closed?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(Edge Weight = ∞)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17520" y="448056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017520" y="4480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Route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Travel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0" y="219456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0" y="283464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0" y="347472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0" y="434340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→ continue   |   Yes → set weight = ∞, re-route</a:t>
            </a:r>
            <a:endParaRPr lang="en-US" sz="1050" dirty="0"/>
          </a:p>
        </p:txBody>
      </p:sp>
      <p:pic>
        <p:nvPicPr>
          <p:cNvPr id="23" name="Picture 22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4CAA0D8C-EAE5-6164-CF08-03E0292D2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115079"/>
            <a:ext cx="1023864" cy="921985"/>
          </a:xfrm>
          <a:prstGeom prst="rect">
            <a:avLst/>
          </a:prstGeom>
        </p:spPr>
      </p:pic>
      <p:pic>
        <p:nvPicPr>
          <p:cNvPr id="24" name="Picture 23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95FA91D1-DC03-DC7F-FEA6-1D9B3CF366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7" y="115079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14134" y="256032"/>
            <a:ext cx="49588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10267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</a:t>
            </a: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city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</a:t>
            </a: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 nodes, directed edges and weights.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</a:t>
            </a: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adjacency list and coordinate mapping.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43000" y="22311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</a:t>
            </a: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dynamic traffic simulation and weight-update formula.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279806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Dijkstra's / A* Search for shortest time-based path.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" y="336499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road-closure</a:t>
            </a: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(infinite weight) scenarios.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43000" y="39319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optimal </a:t>
            </a: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route and total estimated travel time.</a:t>
            </a:r>
            <a:endParaRPr lang="en-US" sz="1450" dirty="0"/>
          </a:p>
        </p:txBody>
      </p:sp>
      <p:pic>
        <p:nvPicPr>
          <p:cNvPr id="23" name="Picture 22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3E495AFC-E056-717A-388D-3A4CD19D6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" y="92999"/>
            <a:ext cx="1023864" cy="921985"/>
          </a:xfrm>
          <a:prstGeom prst="rect">
            <a:avLst/>
          </a:prstGeom>
        </p:spPr>
      </p:pic>
      <p:pic>
        <p:nvPicPr>
          <p:cNvPr id="24" name="Picture 23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7ED3C71C-9748-E929-D150-EE062E0F3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80103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14135" y="68580"/>
            <a:ext cx="4811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/ OUTPUT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68813" y="1686012"/>
            <a:ext cx="4283612" cy="274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City map with intersections (≥50 nodes) and roads as edges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Distance and speed-limit values per road segment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real-time traffic factor per edge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node and destination node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Road-closure flags, if any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75607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Ordered list of nodes forming the fastest route</a:t>
            </a:r>
            <a:endParaRPr lang="en-US" sz="1600" dirty="0"/>
          </a:p>
          <a:p>
            <a:pPr marL="171450" indent="-1714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estimated travel time (ms)</a:t>
            </a:r>
            <a:endParaRPr lang="en-US" sz="1600" dirty="0"/>
          </a:p>
          <a:p>
            <a:pPr marL="171450" indent="-1714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Updated live traffic-weighted graph snapshot</a:t>
            </a:r>
            <a:endParaRPr lang="en-US" sz="1600" dirty="0"/>
          </a:p>
          <a:p>
            <a:pPr marL="171450" indent="-1714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Route computed in under 100 ms</a:t>
            </a:r>
            <a:endParaRPr lang="en-US" sz="1600" dirty="0"/>
          </a:p>
        </p:txBody>
      </p:sp>
      <p:pic>
        <p:nvPicPr>
          <p:cNvPr id="14" name="Picture 13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6D39A70B-0431-8FC2-3F01-8193B3C3C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" y="92999"/>
            <a:ext cx="1023864" cy="921985"/>
          </a:xfrm>
          <a:prstGeom prst="rect">
            <a:avLst/>
          </a:prstGeom>
        </p:spPr>
      </p:pic>
      <p:pic>
        <p:nvPicPr>
          <p:cNvPr id="15" name="Picture 14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496DFAFB-B240-78FF-DEB6-16691C6FFC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92999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40412" y="59084"/>
            <a:ext cx="61968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PARAMETERS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67286" y="1143000"/>
            <a:ext cx="5493434" cy="2317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Accurate, time-based shortest route computation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Realistic simulation of time-varying traffic congestion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Fast route recalculation, under 100ms per query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Correct handling of road closures and blocked routes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 scalable, memory-efficient city graph representation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7E526225-CEF4-1876-8B6F-7F826D92C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80103"/>
            <a:ext cx="1023864" cy="921985"/>
          </a:xfrm>
          <a:prstGeom prst="rect">
            <a:avLst/>
          </a:prstGeom>
        </p:spPr>
      </p:pic>
      <p:pic>
        <p:nvPicPr>
          <p:cNvPr id="7" name="Picture 6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F6F1CA40-0A64-80AB-63CF-71F197FEE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" y="80102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88123" y="160020"/>
            <a:ext cx="5767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39151" y="1143000"/>
            <a:ext cx="60631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tested with 50 nodes and 130 directed edges representing a sample city layout.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path computation time recorded at ~42 ms, well within the 100 ms target.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Dijkstra's Algorithm and A* Search returned identical optimal paths; A* explored ~35% fewer nodes on average.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traffic factor caused route re-ranking in 18 of 50 test queries, confirming dynamic adaptability.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Road-closure edges (infinite weight) were correctly excluded from all computed paths.</a:t>
            </a:r>
            <a:endParaRPr lang="en-US" sz="1600" dirty="0"/>
          </a:p>
        </p:txBody>
      </p:sp>
      <p:pic>
        <p:nvPicPr>
          <p:cNvPr id="7" name="Picture 6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15F8BAFE-4078-E7CB-4D3C-54D15759C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" y="92999"/>
            <a:ext cx="1023864" cy="921985"/>
          </a:xfrm>
          <a:prstGeom prst="rect">
            <a:avLst/>
          </a:prstGeom>
        </p:spPr>
      </p:pic>
      <p:pic>
        <p:nvPicPr>
          <p:cNvPr id="9" name="Picture 8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6CD1A4CA-D5A5-5E3F-CE0D-9D0431595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92999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system successfully models a city road network as a weighted directed graph supporting real-time traffic adaptation.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Dijkstra's Algorithm and A* Search reliably compute optimal, time-based routes even as edge weights change dynamically.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closures are handled correctly through infinite-weight edges, with routes returned in under 100 </a:t>
            </a:r>
            <a:r>
              <a:rPr lang="en-US" sz="145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demonstrates how core data structures — graphs, adjacency lists, and priority queues — solve a real-world navigation problem.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 may extend the system with real GPS data, multi-vehicle routing, and ML-based traffic prediction.</a:t>
            </a:r>
            <a:endParaRPr lang="en-US" sz="1450" dirty="0"/>
          </a:p>
        </p:txBody>
      </p:sp>
      <p:pic>
        <p:nvPicPr>
          <p:cNvPr id="2" name="Picture 1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A889CA2E-942F-CA52-7B6B-EECF2D74C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" y="92999"/>
            <a:ext cx="1023864" cy="921985"/>
          </a:xfrm>
          <a:prstGeom prst="rect">
            <a:avLst/>
          </a:prstGeom>
        </p:spPr>
      </p:pic>
      <p:pic>
        <p:nvPicPr>
          <p:cNvPr id="3" name="Picture 2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D3803B6C-A0D0-D6B0-2F4E-126D1AA76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92999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Cormen, T. H., Leiserson, C. E., Rivest, R. L., &amp; Stein, C. (2009). Introduction to Algorithms (3rd ed.). MIT Press.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Hart, P. E., Nilsson, N. J., &amp; Raphael, B. (1968). A formal basis for the heuristic determination of minimum cost paths. IEEE Transactions on Systems Science and Cybernetics, 4(2), 100-107.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Dijkstra, E. W. (1959). A note on two problems in connexion with graphs. Numerische Mathematik, 1(1), 269-271.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Delling, D., Sanders, P., Schultes, D., &amp; Wagner, D. (2009). Engineering route planning algorithms. In Algorithmics of Large and Complex Networks (pp. 117-139). Springer.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Fu, L., Sun, D., &amp; Rilett, L. R. (2006). Heuristic shortest path algorithms for transportation applications: State of the art. Computers &amp; Operations Research, 33(11), 3324-3343.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ue gear with a book and a caduceus on it&#10;&#10;AI-generated content may be incorrect.">
            <a:extLst>
              <a:ext uri="{FF2B5EF4-FFF2-40B4-BE49-F238E27FC236}">
                <a16:creationId xmlns:a16="http://schemas.microsoft.com/office/drawing/2014/main" id="{26FC1A61-53DD-0FFB-0E9C-3061F5AFD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2" y="78931"/>
            <a:ext cx="1023864" cy="921985"/>
          </a:xfrm>
          <a:prstGeom prst="rect">
            <a:avLst/>
          </a:prstGeom>
        </p:spPr>
      </p:pic>
      <p:pic>
        <p:nvPicPr>
          <p:cNvPr id="7" name="Picture 6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495FD3C4-FB4F-5265-278A-6C58CD7C5B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" y="78930"/>
            <a:ext cx="1023864" cy="9219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1299</Words>
  <Application>Microsoft Office PowerPoint</Application>
  <PresentationFormat>On-screen Show (16:9)</PresentationFormat>
  <Paragraphs>126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 vardhan .</cp:lastModifiedBy>
  <cp:revision>6</cp:revision>
  <dcterms:created xsi:type="dcterms:W3CDTF">2026-07-28T03:06:09Z</dcterms:created>
  <dcterms:modified xsi:type="dcterms:W3CDTF">2026-08-24T14:57:23Z</dcterms:modified>
</cp:coreProperties>
</file>